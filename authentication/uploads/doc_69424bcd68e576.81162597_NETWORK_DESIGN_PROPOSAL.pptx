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9162-2E31-4530-09CA-7B9AF4E2A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349" y="652734"/>
            <a:ext cx="10572000" cy="2971051"/>
          </a:xfrm>
        </p:spPr>
        <p:txBody>
          <a:bodyPr/>
          <a:lstStyle/>
          <a:p>
            <a:pPr latinLnBrk="1"/>
            <a:r>
              <a:rPr lang="en-US" b="0" dirty="0"/>
              <a:t>NETWORK DESIGN PROPOSAL</a:t>
            </a:r>
            <a:br>
              <a:rPr lang="en-US" b="0" dirty="0"/>
            </a:br>
            <a:r>
              <a:rPr lang="en-US" b="0" dirty="0"/>
              <a:t>For Zamboanga Puericulture</a:t>
            </a:r>
            <a:br>
              <a:rPr lang="en-US" b="0" dirty="0"/>
            </a:br>
            <a:r>
              <a:rPr lang="en-US" b="0" dirty="0"/>
              <a:t>Center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2C234-D7A5-6595-1A54-6A46337F6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072" y="4995711"/>
            <a:ext cx="10572000" cy="434974"/>
          </a:xfrm>
        </p:spPr>
        <p:txBody>
          <a:bodyPr>
            <a:noAutofit/>
          </a:bodyPr>
          <a:lstStyle/>
          <a:p>
            <a:r>
              <a:rPr lang="en-PH" dirty="0"/>
              <a:t>Presented by:</a:t>
            </a:r>
          </a:p>
          <a:p>
            <a:r>
              <a:rPr lang="en-PH" dirty="0"/>
              <a:t>ALIM, AL-KHAZRI</a:t>
            </a:r>
          </a:p>
          <a:p>
            <a:r>
              <a:rPr lang="en-PH" dirty="0"/>
              <a:t>RAMILLANO, INCENT</a:t>
            </a:r>
          </a:p>
          <a:p>
            <a:r>
              <a:rPr lang="en-PH" dirty="0"/>
              <a:t>PAGOTAISIDRO, MARCOJEAN</a:t>
            </a:r>
          </a:p>
        </p:txBody>
      </p:sp>
    </p:spTree>
    <p:extLst>
      <p:ext uri="{BB962C8B-B14F-4D97-AF65-F5344CB8AC3E}">
        <p14:creationId xmlns:p14="http://schemas.microsoft.com/office/powerpoint/2010/main" val="3670570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EF18-E9BB-793D-7518-BE2559E0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Introduction</a:t>
            </a:r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307BA-D2FE-06C9-83BC-5048E6BB2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37" y="1917487"/>
            <a:ext cx="12199198" cy="5073248"/>
          </a:xfrm>
        </p:spPr>
        <p:txBody>
          <a:bodyPr>
            <a:normAutofit/>
          </a:bodyPr>
          <a:lstStyle/>
          <a:p>
            <a:r>
              <a:rPr lang="en-PH" sz="1600" dirty="0"/>
              <a:t>Background</a:t>
            </a:r>
          </a:p>
          <a:p>
            <a:r>
              <a:rPr lang="en-PH" sz="1600" dirty="0"/>
              <a:t>• Rapid ICT advancement makes networking essential for organizations</a:t>
            </a:r>
          </a:p>
          <a:p>
            <a:r>
              <a:rPr lang="en-PH" sz="1600" dirty="0"/>
              <a:t>• Zamboanga Puericulture Center provides:</a:t>
            </a:r>
          </a:p>
          <a:p>
            <a:r>
              <a:rPr lang="en-PH" sz="1600" dirty="0"/>
              <a:t>  - Integrated health care services</a:t>
            </a:r>
          </a:p>
          <a:p>
            <a:r>
              <a:rPr lang="en-PH" sz="1600" dirty="0"/>
              <a:t>  - Educational programs</a:t>
            </a:r>
          </a:p>
          <a:p>
            <a:r>
              <a:rPr lang="en-PH" sz="1600" dirty="0"/>
              <a:t>  - Socio-economic services</a:t>
            </a:r>
          </a:p>
          <a:p>
            <a:endParaRPr lang="en-PH" sz="1600" dirty="0"/>
          </a:p>
          <a:p>
            <a:r>
              <a:rPr lang="en-PH" sz="1600" dirty="0"/>
              <a:t>Current Challenges</a:t>
            </a:r>
          </a:p>
          <a:p>
            <a:r>
              <a:rPr lang="en-PH" sz="1600" dirty="0"/>
              <a:t>• Slow data transfer</a:t>
            </a:r>
          </a:p>
          <a:p>
            <a:r>
              <a:rPr lang="en-PH" sz="1600" dirty="0"/>
              <a:t>• Limited communication channels</a:t>
            </a:r>
          </a:p>
          <a:p>
            <a:r>
              <a:rPr lang="en-PH" sz="1600" dirty="0"/>
              <a:t>• Inefficient information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849981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A480-67F8-6804-ACF2-6AFD2596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 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4828F-7301-F649-C20E-E6B505BE8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608" y="1878158"/>
            <a:ext cx="11481443" cy="5161739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Existing network infrastructure limitations hinder:</a:t>
            </a:r>
          </a:p>
          <a:p>
            <a:r>
              <a:rPr lang="en-US" dirty="0"/>
              <a:t>• Productivity</a:t>
            </a:r>
          </a:p>
          <a:p>
            <a:r>
              <a:rPr lang="en-US" dirty="0"/>
              <a:t>• Service delivery quality</a:t>
            </a:r>
          </a:p>
          <a:p>
            <a:r>
              <a:rPr lang="en-US" dirty="0"/>
              <a:t>• Inter-department collaboration</a:t>
            </a:r>
          </a:p>
          <a:p>
            <a:endParaRPr lang="en-US" dirty="0"/>
          </a:p>
          <a:p>
            <a:r>
              <a:rPr lang="en-US" dirty="0"/>
              <a:t>Research Objectives</a:t>
            </a:r>
          </a:p>
          <a:p>
            <a:r>
              <a:rPr lang="en-US" dirty="0"/>
              <a:t>• Design scalable miniature office network</a:t>
            </a:r>
          </a:p>
          <a:p>
            <a:r>
              <a:rPr lang="en-US" dirty="0"/>
              <a:t>• Implement tree topology matching organizational structure</a:t>
            </a:r>
          </a:p>
          <a:p>
            <a:r>
              <a:rPr lang="en-US" dirty="0"/>
              <a:t>• Enhance security and data management</a:t>
            </a:r>
          </a:p>
          <a:p>
            <a:r>
              <a:rPr lang="en-US" dirty="0"/>
              <a:t>• Support four main departments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54536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325C-0D5F-C5C4-FB46-F00AAE403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Related Literature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9F6DF-A382-FFC4-61FF-96F83AAAB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602" y="2074803"/>
            <a:ext cx="10921004" cy="4635713"/>
          </a:xfrm>
        </p:spPr>
        <p:txBody>
          <a:bodyPr/>
          <a:lstStyle/>
          <a:p>
            <a:r>
              <a:rPr lang="en-PH" dirty="0"/>
              <a:t>Network Design Principles</a:t>
            </a:r>
          </a:p>
          <a:p>
            <a:r>
              <a:rPr lang="en-PH" dirty="0"/>
              <a:t>• Scalability, reliability, cost-efficiency, security (Tanenbaum &amp; Wetherall, 2011)</a:t>
            </a:r>
          </a:p>
          <a:p>
            <a:r>
              <a:rPr lang="en-PH" dirty="0"/>
              <a:t>• Structured networks reduce communication bottlenecks (Kurose &amp; Ross, 2017)</a:t>
            </a:r>
          </a:p>
          <a:p>
            <a:endParaRPr lang="en-PH" dirty="0"/>
          </a:p>
          <a:p>
            <a:r>
              <a:rPr lang="en-PH" dirty="0"/>
              <a:t>Health Institution Requirements</a:t>
            </a:r>
          </a:p>
          <a:p>
            <a:r>
              <a:rPr lang="en-PH" dirty="0"/>
              <a:t>• Secure data transmission for sensitive records</a:t>
            </a:r>
          </a:p>
          <a:p>
            <a:r>
              <a:rPr lang="en-PH" dirty="0"/>
              <a:t>• Firewalls, access control, segmentation (Smith, 2019)</a:t>
            </a:r>
          </a:p>
          <a:p>
            <a:r>
              <a:rPr lang="en-PH" dirty="0"/>
              <a:t>• LAN benefits: document sharing, centralized storage (Bautista, 2018)</a:t>
            </a:r>
          </a:p>
        </p:txBody>
      </p:sp>
    </p:spTree>
    <p:extLst>
      <p:ext uri="{BB962C8B-B14F-4D97-AF65-F5344CB8AC3E}">
        <p14:creationId xmlns:p14="http://schemas.microsoft.com/office/powerpoint/2010/main" val="66297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1A2A-74FF-BDDF-0604-A96C29AC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Related Literature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BAAE0-D2AB-C192-9FC9-859F1DB61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750" y="2222287"/>
            <a:ext cx="11009494" cy="4188525"/>
          </a:xfrm>
        </p:spPr>
        <p:txBody>
          <a:bodyPr/>
          <a:lstStyle/>
          <a:p>
            <a:r>
              <a:rPr lang="en-US" dirty="0"/>
              <a:t>Research Approach</a:t>
            </a:r>
          </a:p>
          <a:p>
            <a:r>
              <a:rPr lang="en-US" dirty="0"/>
              <a:t>1. Needs Analysis</a:t>
            </a:r>
          </a:p>
          <a:p>
            <a:r>
              <a:rPr lang="en-US" dirty="0"/>
              <a:t>2. Topology Selection</a:t>
            </a:r>
          </a:p>
          <a:p>
            <a:r>
              <a:rPr lang="en-US" dirty="0"/>
              <a:t>3. Device Planning</a:t>
            </a:r>
          </a:p>
          <a:p>
            <a:r>
              <a:rPr lang="en-US" dirty="0"/>
              <a:t>4. IP Addressing Scheme</a:t>
            </a:r>
          </a:p>
          <a:p>
            <a:r>
              <a:rPr lang="en-US" dirty="0"/>
              <a:t>5. Router Configuration</a:t>
            </a:r>
          </a:p>
          <a:p>
            <a:r>
              <a:rPr lang="en-US" dirty="0"/>
              <a:t>6. Switch Configuration</a:t>
            </a:r>
          </a:p>
          <a:p>
            <a:r>
              <a:rPr lang="en-US" dirty="0"/>
              <a:t>7. Diagram Creation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994130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2949-C41D-B2D2-FFFD-53A25BC5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Methodology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F10D-69BC-8F0F-4974-F5B7F4D67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Approach</a:t>
            </a:r>
          </a:p>
          <a:p>
            <a:r>
              <a:rPr lang="en-US" dirty="0"/>
              <a:t>1. Needs Analysis</a:t>
            </a:r>
          </a:p>
          <a:p>
            <a:r>
              <a:rPr lang="en-US" dirty="0"/>
              <a:t>2. Topology Selection</a:t>
            </a:r>
          </a:p>
          <a:p>
            <a:r>
              <a:rPr lang="en-US" dirty="0"/>
              <a:t>3. Device Planning</a:t>
            </a:r>
          </a:p>
          <a:p>
            <a:r>
              <a:rPr lang="en-US" dirty="0"/>
              <a:t>4. IP Addressing Scheme</a:t>
            </a:r>
          </a:p>
          <a:p>
            <a:r>
              <a:rPr lang="en-US" dirty="0"/>
              <a:t>5. Router Configuration</a:t>
            </a:r>
          </a:p>
          <a:p>
            <a:r>
              <a:rPr lang="en-US" dirty="0"/>
              <a:t>6. Switch Configuration</a:t>
            </a:r>
          </a:p>
          <a:p>
            <a:r>
              <a:rPr lang="en-US" dirty="0"/>
              <a:t>7. Diagram Creation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85975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8A15-04F8-F185-F4E8-61C85981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Needs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DE018-388C-0C3E-6A11-78D984BB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273" y="2114132"/>
            <a:ext cx="11373288" cy="4635713"/>
          </a:xfrm>
        </p:spPr>
        <p:txBody>
          <a:bodyPr>
            <a:normAutofit/>
          </a:bodyPr>
          <a:lstStyle/>
          <a:p>
            <a:r>
              <a:rPr lang="en-US" dirty="0"/>
              <a:t>Department Requirements</a:t>
            </a:r>
          </a:p>
          <a:p>
            <a:r>
              <a:rPr lang="en-US" dirty="0"/>
              <a:t>• School Department: Education and training</a:t>
            </a:r>
          </a:p>
          <a:p>
            <a:r>
              <a:rPr lang="en-US" dirty="0"/>
              <a:t>• Admin Department: General operations</a:t>
            </a:r>
          </a:p>
          <a:p>
            <a:r>
              <a:rPr lang="en-US" dirty="0"/>
              <a:t>• Hospital/Health: Medical services</a:t>
            </a:r>
          </a:p>
          <a:p>
            <a:r>
              <a:rPr lang="en-US" dirty="0"/>
              <a:t>• Human Resources: Employee records</a:t>
            </a:r>
          </a:p>
          <a:p>
            <a:endParaRPr lang="en-US" dirty="0"/>
          </a:p>
          <a:p>
            <a:r>
              <a:rPr lang="en-US" dirty="0"/>
              <a:t>Resource Allocation</a:t>
            </a:r>
          </a:p>
          <a:p>
            <a:r>
              <a:rPr lang="en-US" dirty="0"/>
              <a:t>• Dedicated switch per department</a:t>
            </a:r>
          </a:p>
          <a:p>
            <a:r>
              <a:rPr lang="en-US" dirty="0"/>
              <a:t>• PCs and shared printers</a:t>
            </a:r>
          </a:p>
          <a:p>
            <a:r>
              <a:rPr lang="en-US" dirty="0"/>
              <a:t>• Centralized management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9241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8527-BA9F-EF12-1D61-8A585877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Topology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60613-4CBB-9270-DE84-7DC1EB5E0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92" y="2222287"/>
            <a:ext cx="10842346" cy="4188525"/>
          </a:xfrm>
        </p:spPr>
        <p:txBody>
          <a:bodyPr/>
          <a:lstStyle/>
          <a:p>
            <a:r>
              <a:rPr lang="en-PH" dirty="0"/>
              <a:t>Why Tree Topology?</a:t>
            </a:r>
          </a:p>
          <a:p>
            <a:r>
              <a:rPr lang="en-PH" dirty="0"/>
              <a:t>✓ Matches organizational hierarchy</a:t>
            </a:r>
          </a:p>
          <a:p>
            <a:r>
              <a:rPr lang="en-PH" dirty="0"/>
              <a:t>✓ Supports semi-independent departments</a:t>
            </a:r>
          </a:p>
          <a:p>
            <a:r>
              <a:rPr lang="en-PH" dirty="0"/>
              <a:t>✓ Easy expansion capabilities</a:t>
            </a:r>
          </a:p>
          <a:p>
            <a:r>
              <a:rPr lang="en-PH" dirty="0"/>
              <a:t>✓ Centralized control through router</a:t>
            </a:r>
          </a:p>
          <a:p>
            <a:r>
              <a:rPr lang="en-PH" dirty="0"/>
              <a:t>✓ Efficient traffic management</a:t>
            </a:r>
          </a:p>
          <a:p>
            <a:endParaRPr lang="en-PH" dirty="0"/>
          </a:p>
          <a:p>
            <a:r>
              <a:rPr lang="en-PH" dirty="0"/>
              <a:t>Network Structure</a:t>
            </a:r>
          </a:p>
          <a:p>
            <a:r>
              <a:rPr lang="en-PH" dirty="0"/>
              <a:t>Router → 4 Department Switches → Multiple PCs</a:t>
            </a:r>
          </a:p>
        </p:txBody>
      </p:sp>
    </p:spTree>
    <p:extLst>
      <p:ext uri="{BB962C8B-B14F-4D97-AF65-F5344CB8AC3E}">
        <p14:creationId xmlns:p14="http://schemas.microsoft.com/office/powerpoint/2010/main" val="79440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5C88-FB83-D3F9-B1EB-33513BE3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Network Design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1F697-248C-5F2B-507A-572ED2DB5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616" y="2346418"/>
            <a:ext cx="10554574" cy="363651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Topology Layout:</a:t>
            </a:r>
          </a:p>
          <a:p>
            <a:r>
              <a:rPr lang="en-US" dirty="0"/>
              <a:t>• Central Router (Root)</a:t>
            </a:r>
          </a:p>
          <a:p>
            <a:r>
              <a:rPr lang="en-US" dirty="0"/>
              <a:t>• 4 Department Switches (Branches)</a:t>
            </a:r>
          </a:p>
          <a:p>
            <a:r>
              <a:rPr lang="en-US" dirty="0"/>
              <a:t>• Multiple PCs per department</a:t>
            </a:r>
          </a:p>
          <a:p>
            <a:r>
              <a:rPr lang="en-US" dirty="0"/>
              <a:t>• Cat6 Ethernet connections</a:t>
            </a:r>
          </a:p>
          <a:p>
            <a:r>
              <a:rPr lang="en-US" dirty="0"/>
              <a:t>• Optional patch panels</a:t>
            </a:r>
            <a:endParaRPr lang="en-PH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0CBE71-B92E-4D7F-1365-87C060BA2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1" t="18564" r="38966" b="23894"/>
          <a:stretch>
            <a:fillRect/>
          </a:stretch>
        </p:blipFill>
        <p:spPr bwMode="auto">
          <a:xfrm>
            <a:off x="5043715" y="2160397"/>
            <a:ext cx="6892892" cy="451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25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B42E-760E-EC4D-D9AB-02604D0D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IP Addressing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50BFE-D201-B09A-F105-F077A17A3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47" y="2143628"/>
            <a:ext cx="11058656" cy="4453816"/>
          </a:xfrm>
        </p:spPr>
        <p:txBody>
          <a:bodyPr>
            <a:normAutofit/>
          </a:bodyPr>
          <a:lstStyle/>
          <a:p>
            <a:r>
              <a:rPr lang="en-US" dirty="0"/>
              <a:t>Department Subnets</a:t>
            </a:r>
          </a:p>
          <a:p>
            <a:r>
              <a:rPr lang="en-US" dirty="0"/>
              <a:t>• Admin: 192.168.10.0/24</a:t>
            </a:r>
          </a:p>
          <a:p>
            <a:r>
              <a:rPr lang="en-US" dirty="0"/>
              <a:t>• HR: 192.168.20.0/24</a:t>
            </a:r>
          </a:p>
          <a:p>
            <a:r>
              <a:rPr lang="en-US" dirty="0"/>
              <a:t>• School: 192.168.30.0/24</a:t>
            </a:r>
          </a:p>
          <a:p>
            <a:r>
              <a:rPr lang="en-US" dirty="0"/>
              <a:t>• Hospital: 192.168.40.0/24</a:t>
            </a:r>
          </a:p>
          <a:p>
            <a:endParaRPr lang="en-US" dirty="0"/>
          </a:p>
          <a:p>
            <a:r>
              <a:rPr lang="en-US" dirty="0"/>
              <a:t>Benefits:</a:t>
            </a:r>
          </a:p>
          <a:p>
            <a:r>
              <a:rPr lang="en-US" dirty="0"/>
              <a:t>• Conflict prevention</a:t>
            </a:r>
          </a:p>
          <a:p>
            <a:r>
              <a:rPr lang="en-US" dirty="0"/>
              <a:t>• VLAN-like segmentation</a:t>
            </a:r>
          </a:p>
          <a:p>
            <a:r>
              <a:rPr lang="en-US" dirty="0"/>
              <a:t>• Organized network management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8196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069EF-9C76-50DE-075B-E0F5DCAC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Device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D00EC-2F07-3653-9168-B6C4297FC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56" y="2064971"/>
            <a:ext cx="11373288" cy="4866771"/>
          </a:xfrm>
        </p:spPr>
        <p:txBody>
          <a:bodyPr>
            <a:normAutofit/>
          </a:bodyPr>
          <a:lstStyle/>
          <a:p>
            <a:r>
              <a:rPr lang="en-PH" dirty="0"/>
              <a:t>Router Setup</a:t>
            </a:r>
          </a:p>
          <a:p>
            <a:r>
              <a:rPr lang="en-PH" dirty="0"/>
              <a:t>• DHCP services</a:t>
            </a:r>
          </a:p>
          <a:p>
            <a:r>
              <a:rPr lang="en-PH" dirty="0"/>
              <a:t>• Inter-department routing</a:t>
            </a:r>
          </a:p>
          <a:p>
            <a:r>
              <a:rPr lang="en-PH" dirty="0"/>
              <a:t>• Firewall security</a:t>
            </a:r>
          </a:p>
          <a:p>
            <a:r>
              <a:rPr lang="en-PH" dirty="0"/>
              <a:t>• NAT for internet sharing</a:t>
            </a:r>
          </a:p>
          <a:p>
            <a:endParaRPr lang="en-PH" dirty="0"/>
          </a:p>
          <a:p>
            <a:r>
              <a:rPr lang="en-PH" dirty="0"/>
              <a:t>Switch Configuration</a:t>
            </a:r>
          </a:p>
          <a:p>
            <a:r>
              <a:rPr lang="en-PH" dirty="0"/>
              <a:t>• Department segmentation</a:t>
            </a:r>
          </a:p>
          <a:p>
            <a:r>
              <a:rPr lang="en-PH" dirty="0"/>
              <a:t>• Port security</a:t>
            </a:r>
          </a:p>
          <a:p>
            <a:r>
              <a:rPr lang="en-PH" dirty="0"/>
              <a:t>• MAC address filtering</a:t>
            </a:r>
          </a:p>
          <a:p>
            <a:r>
              <a:rPr lang="en-PH" dirty="0"/>
              <a:t>• Traffic management</a:t>
            </a:r>
          </a:p>
        </p:txBody>
      </p:sp>
    </p:spTree>
    <p:extLst>
      <p:ext uri="{BB962C8B-B14F-4D97-AF65-F5344CB8AC3E}">
        <p14:creationId xmlns:p14="http://schemas.microsoft.com/office/powerpoint/2010/main" val="159424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6B8D-4CD0-853F-3E05-0E61E0D39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Security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08634-3AB4-23F4-F296-320E8C62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56" y="2133796"/>
            <a:ext cx="11373288" cy="4635713"/>
          </a:xfrm>
        </p:spPr>
        <p:txBody>
          <a:bodyPr>
            <a:normAutofit/>
          </a:bodyPr>
          <a:lstStyle/>
          <a:p>
            <a:r>
              <a:rPr lang="en-US" dirty="0"/>
              <a:t>Security Measures</a:t>
            </a:r>
          </a:p>
          <a:p>
            <a:r>
              <a:rPr lang="en-US" dirty="0"/>
              <a:t>• WPA3/WPA2 wireless protection</a:t>
            </a:r>
          </a:p>
          <a:p>
            <a:r>
              <a:rPr lang="en-US" dirty="0"/>
              <a:t>• Password-protected shared folders</a:t>
            </a:r>
          </a:p>
          <a:p>
            <a:r>
              <a:rPr lang="en-US" dirty="0"/>
              <a:t>• Router firewall activation</a:t>
            </a:r>
          </a:p>
          <a:p>
            <a:r>
              <a:rPr lang="en-US" dirty="0"/>
              <a:t>• Department-based access control</a:t>
            </a:r>
          </a:p>
          <a:p>
            <a:r>
              <a:rPr lang="en-US" dirty="0"/>
              <a:t>• Broadcast traffic reduction</a:t>
            </a:r>
          </a:p>
          <a:p>
            <a:endParaRPr lang="en-US" dirty="0"/>
          </a:p>
          <a:p>
            <a:r>
              <a:rPr lang="en-US" dirty="0"/>
              <a:t>Data Protection</a:t>
            </a:r>
          </a:p>
          <a:p>
            <a:r>
              <a:rPr lang="en-US" dirty="0"/>
              <a:t>• Sensitive health records secured</a:t>
            </a:r>
          </a:p>
          <a:p>
            <a:r>
              <a:rPr lang="en-US" dirty="0"/>
              <a:t>• Role-based permissions</a:t>
            </a:r>
          </a:p>
          <a:p>
            <a:r>
              <a:rPr lang="en-US" dirty="0"/>
              <a:t>• Network segmentation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51970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38EB-5561-CAB8-E084-3C58056B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Results &amp;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AFF1B-812B-5CFE-5BE9-1C9F9EC4C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60" y="2143629"/>
            <a:ext cx="11206140" cy="4552139"/>
          </a:xfrm>
        </p:spPr>
        <p:txBody>
          <a:bodyPr>
            <a:normAutofit/>
          </a:bodyPr>
          <a:lstStyle/>
          <a:p>
            <a:r>
              <a:rPr lang="en-US" dirty="0"/>
              <a:t>Successful Implementation</a:t>
            </a:r>
          </a:p>
          <a:p>
            <a:r>
              <a:rPr lang="en-US" dirty="0"/>
              <a:t>✓ Stable connectivity across all departments</a:t>
            </a:r>
          </a:p>
          <a:p>
            <a:r>
              <a:rPr lang="en-US" dirty="0"/>
              <a:t>✓ Efficient inter-department communication</a:t>
            </a:r>
          </a:p>
          <a:p>
            <a:r>
              <a:rPr lang="en-US" dirty="0"/>
              <a:t>✓ Minimal latency in data transmission</a:t>
            </a:r>
          </a:p>
          <a:p>
            <a:r>
              <a:rPr lang="en-US" dirty="0"/>
              <a:t>✓ Reliable file sharing capabilities</a:t>
            </a:r>
          </a:p>
          <a:p>
            <a:r>
              <a:rPr lang="en-US" dirty="0"/>
              <a:t>✓ Internet access for all workstations</a:t>
            </a:r>
          </a:p>
          <a:p>
            <a:endParaRPr lang="en-US" dirty="0"/>
          </a:p>
          <a:p>
            <a:r>
              <a:rPr lang="en-US" dirty="0"/>
              <a:t>Connectivity Test Results</a:t>
            </a:r>
          </a:p>
          <a:p>
            <a:r>
              <a:rPr lang="en-US" dirty="0"/>
              <a:t>• All PCs successfully connected</a:t>
            </a:r>
          </a:p>
          <a:p>
            <a:r>
              <a:rPr lang="en-US" dirty="0"/>
              <a:t>• Stable uplinks maintained</a:t>
            </a:r>
          </a:p>
          <a:p>
            <a:r>
              <a:rPr lang="en-US" dirty="0"/>
              <a:t>• Department communication functional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51520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3046-5BD7-B66A-B052-0FF96654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Network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AEB4-6E0E-9520-DE51-1625047E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70" y="2015811"/>
            <a:ext cx="11186476" cy="47094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Key Achievements</a:t>
            </a:r>
          </a:p>
          <a:p>
            <a:r>
              <a:rPr lang="en-US" dirty="0"/>
              <a:t>• Organized data flow</a:t>
            </a:r>
          </a:p>
          <a:p>
            <a:r>
              <a:rPr lang="en-US" dirty="0"/>
              <a:t>• Improved coordination</a:t>
            </a:r>
          </a:p>
          <a:p>
            <a:r>
              <a:rPr lang="en-US" dirty="0"/>
              <a:t>• Scalable infrastructure</a:t>
            </a:r>
          </a:p>
          <a:p>
            <a:r>
              <a:rPr lang="en-US" dirty="0"/>
              <a:t>• Secure data transmission</a:t>
            </a:r>
          </a:p>
          <a:p>
            <a:r>
              <a:rPr lang="en-US" dirty="0"/>
              <a:t>• Efficient resource sharing</a:t>
            </a:r>
          </a:p>
          <a:p>
            <a:endParaRPr lang="en-US" dirty="0"/>
          </a:p>
          <a:p>
            <a:r>
              <a:rPr lang="en-US" dirty="0"/>
              <a:t>Operational Benefits</a:t>
            </a:r>
          </a:p>
          <a:p>
            <a:r>
              <a:rPr lang="en-US" dirty="0"/>
              <a:t>• Faster information exchange</a:t>
            </a:r>
          </a:p>
          <a:p>
            <a:r>
              <a:rPr lang="en-US" dirty="0"/>
              <a:t>• Enhanced administrative processes</a:t>
            </a:r>
          </a:p>
          <a:p>
            <a:r>
              <a:rPr lang="en-US" dirty="0"/>
              <a:t>• Better collaboration</a:t>
            </a:r>
          </a:p>
          <a:p>
            <a:r>
              <a:rPr lang="en-US" dirty="0"/>
              <a:t>• Reliable service delivery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39862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6D3C-EF2E-DB24-303E-A9EB03E1E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4185-8634-C77D-C9FA-A4DB2206B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43" y="2123964"/>
            <a:ext cx="11442114" cy="4635713"/>
          </a:xfrm>
        </p:spPr>
        <p:txBody>
          <a:bodyPr>
            <a:normAutofit/>
          </a:bodyPr>
          <a:lstStyle/>
          <a:p>
            <a:r>
              <a:rPr lang="en-US" dirty="0"/>
              <a:t>Research Summary</a:t>
            </a:r>
          </a:p>
          <a:p>
            <a:r>
              <a:rPr lang="en-US" dirty="0"/>
              <a:t>• Tree topology successfully implemented</a:t>
            </a:r>
          </a:p>
          <a:p>
            <a:r>
              <a:rPr lang="en-US" dirty="0"/>
              <a:t>• Department segmentation achieved</a:t>
            </a:r>
          </a:p>
          <a:p>
            <a:r>
              <a:rPr lang="en-US" dirty="0"/>
              <a:t>• Security requirements met</a:t>
            </a:r>
          </a:p>
          <a:p>
            <a:r>
              <a:rPr lang="en-US" dirty="0"/>
              <a:t>• Scalable design demonstrated</a:t>
            </a:r>
          </a:p>
          <a:p>
            <a:endParaRPr lang="en-US" dirty="0"/>
          </a:p>
          <a:p>
            <a:r>
              <a:rPr lang="en-US" dirty="0"/>
              <a:t>Value Proposition</a:t>
            </a:r>
          </a:p>
          <a:p>
            <a:r>
              <a:rPr lang="en-US" dirty="0"/>
              <a:t>• Supports organizational mission</a:t>
            </a:r>
          </a:p>
          <a:p>
            <a:r>
              <a:rPr lang="en-US" dirty="0"/>
              <a:t>• Enhances daily operations</a:t>
            </a:r>
          </a:p>
          <a:p>
            <a:r>
              <a:rPr lang="en-US" dirty="0"/>
              <a:t>• Provides foundation for future expansion</a:t>
            </a:r>
          </a:p>
          <a:p>
            <a:r>
              <a:rPr lang="en-US" dirty="0"/>
              <a:t>• Meets academic requirements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734387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{A396210E-6D81-4E53-B06C-DDB0395383E0}tf03457503</Template>
  <TotalTime>8</TotalTime>
  <Words>602</Words>
  <Application>Microsoft Office PowerPoint</Application>
  <PresentationFormat>Widescreen</PresentationFormat>
  <Paragraphs>157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2</vt:lpstr>
      <vt:lpstr>Quotable</vt:lpstr>
      <vt:lpstr>NETWORK DESIGN PROPOSAL For Zamboanga Puericulture Center</vt:lpstr>
      <vt:lpstr>Introduction </vt:lpstr>
      <vt:lpstr> Problem Statement &amp; Objectives</vt:lpstr>
      <vt:lpstr>Related Literature (1/2)</vt:lpstr>
      <vt:lpstr>Related Literature (2/2)</vt:lpstr>
      <vt:lpstr>Methodology Overview</vt:lpstr>
      <vt:lpstr>Needs Analysis</vt:lpstr>
      <vt:lpstr>Topology Selection</vt:lpstr>
      <vt:lpstr>Network Design Diagram</vt:lpstr>
      <vt:lpstr>IP Addressing Scheme</vt:lpstr>
      <vt:lpstr>Device Configuration</vt:lpstr>
      <vt:lpstr>Security Implementation</vt:lpstr>
      <vt:lpstr>Results &amp; Implementation</vt:lpstr>
      <vt:lpstr>Network Performance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Jean Pagotaisidro</dc:creator>
  <cp:lastModifiedBy>Marco Jean Pagotaisidro</cp:lastModifiedBy>
  <cp:revision>2</cp:revision>
  <dcterms:created xsi:type="dcterms:W3CDTF">2025-11-26T20:30:09Z</dcterms:created>
  <dcterms:modified xsi:type="dcterms:W3CDTF">2025-11-26T20:38:45Z</dcterms:modified>
</cp:coreProperties>
</file>